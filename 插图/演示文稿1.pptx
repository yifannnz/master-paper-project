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5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147AC-693B-4BBA-8F98-9354B695C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93DB63-50EB-4645-8AE7-E1B2E92EA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E193A-935D-4797-AD44-2C5D048D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81587-A228-4229-8B8B-1ECA0C99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1B06C-571B-4B16-B690-C09784A1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63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EC560-4509-4962-9809-D1A6AF05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D62EE-F0D1-4ACB-A8F3-C382BDD29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49A77F-1B97-49DD-A1A8-44505023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B1A59-EE25-4E27-BD09-1750DBEB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B73FC-888F-4883-8558-459E40A0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66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8D536-C5C2-473B-B039-BC1EB2D6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782DCB-8221-4369-B12E-0B9A24CD2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7CCF6-3682-46B7-AF42-BB46A5D99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15CD2-C9F6-4400-B357-77B78022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54E3D-14E2-4352-BDE8-FDD1C085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681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4706E-958D-4852-B006-D22E8CC1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4E5E8-1580-4AC2-8F09-B067E7D18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D56BE8-8065-445A-B665-3E788221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7B2B12-60FD-49B7-8B34-82FEF819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4F83B-B2B8-4745-A9CD-041A81C9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279DB-84D0-48D0-956C-4FF8F6C3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23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C4C7C-2660-44F1-85B6-5A4756F8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852E51-32FF-4C54-AA8F-ECE542945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2C117D-D79F-45E4-BF38-B112E468C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3944DC-8B57-4568-AB14-23850413F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152DBF-9596-4CC5-B3BE-03DA404BF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4B9170-56A3-42AC-A2B1-0EC67818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752FC9-086E-48A8-AF9A-CAEE60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0CFE87-00C8-4F24-9E86-55609D4E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14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10491-55B0-4898-8D8A-8EAB792C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9FB76B-AC7D-4A57-AF6D-990A0F43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725371-72BD-4F2A-A0EB-3E4F7AD0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B9D9C2-5FE4-4CEB-81E0-39E5266C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8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47441F-FB85-46A0-8DD4-5D1B7861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379D53-335F-4D21-8206-9BCCFA12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114362-6D33-4FBD-AFBF-202A9E7F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32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95937-44E8-450B-99F0-E0404CD9B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FC4695-D625-48C9-B022-F56EF700D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EB371B-601C-458E-9BAE-45C05822A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C8D5DE-67CE-43C4-A3D4-0BD7FFD1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A8621D-208E-44E3-98B4-A82D40DB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16B49F-8171-4735-8377-8C0A5B65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40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CF417-3AE9-415F-966B-FC5196B7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EEFE1-94DE-41B6-98FB-F78230EF4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915410-7BD7-4D5B-A1CA-7A1B7C516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98F975-1897-4EF7-89C6-28EB7F86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A62BCA-A737-4D39-9764-460B82B4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81530F-9866-4D76-B5F1-4EA870A6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3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B919F-B85E-42A4-AD6B-F79D2FEB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77C7CF-2F89-43F3-ADC1-D89640E07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EDCFF-A6D3-41D0-901D-BED92E80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6EADD-8DD8-482C-BCB1-F078DD44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EED06-4095-4CA9-BA62-B07F5CC9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9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0B152D-0DCB-4872-9A51-FD2C607B8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ECCDC5-E860-401A-9319-143E8E086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DB4501-8D2D-4C36-A4FC-87F134C8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6E1DA7-65F4-46CA-B56D-9C68F5E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B4849-230E-4B31-84AF-2A1677C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5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197154-0BB1-4B20-ABE0-4EFE2479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BD0606-2087-48B2-93A2-6CD32F47F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00C91-0FB3-40CB-BE91-BD934A239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06CCE-5F7B-4EE2-B513-11FCC00559B2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4885DA-0CB1-474D-B2E3-C5BB452EE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227D4C-25B3-450C-9188-2FE919A6C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73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6F5862E1-93A4-4B61-B0DB-74BA54F4B001}"/>
              </a:ext>
            </a:extLst>
          </p:cNvPr>
          <p:cNvGrpSpPr/>
          <p:nvPr/>
        </p:nvGrpSpPr>
        <p:grpSpPr>
          <a:xfrm>
            <a:off x="1937344" y="216263"/>
            <a:ext cx="3792455" cy="5247942"/>
            <a:chOff x="1937344" y="216263"/>
            <a:chExt cx="3792455" cy="524794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4BEFEFD-03F1-48DC-B97F-0203A8D2F5C1}"/>
                </a:ext>
              </a:extLst>
            </p:cNvPr>
            <p:cNvGrpSpPr/>
            <p:nvPr/>
          </p:nvGrpSpPr>
          <p:grpSpPr>
            <a:xfrm>
              <a:off x="1940631" y="216263"/>
              <a:ext cx="3789168" cy="1506458"/>
              <a:chOff x="842037" y="434175"/>
              <a:chExt cx="3789168" cy="1506458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7E929906-81B2-4F9B-8B6F-23A4B44BC293}"/>
                  </a:ext>
                </a:extLst>
              </p:cNvPr>
              <p:cNvSpPr/>
              <p:nvPr/>
            </p:nvSpPr>
            <p:spPr>
              <a:xfrm>
                <a:off x="842037" y="434175"/>
                <a:ext cx="3789168" cy="1506458"/>
              </a:xfrm>
              <a:prstGeom prst="roundRect">
                <a:avLst>
                  <a:gd name="adj" fmla="val 3418"/>
                </a:avLst>
              </a:prstGeom>
              <a:noFill/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B916D7-1D16-4920-899C-4FB211E9A617}"/>
                  </a:ext>
                </a:extLst>
              </p:cNvPr>
              <p:cNvSpPr txBox="1"/>
              <p:nvPr/>
            </p:nvSpPr>
            <p:spPr>
              <a:xfrm>
                <a:off x="1256350" y="499961"/>
                <a:ext cx="29605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研究点</a:t>
                </a:r>
                <a:r>
                  <a:rPr lang="en-US" altLang="zh-CN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针对</a:t>
                </a:r>
                <a:r>
                  <a:rPr lang="zh-CN" altLang="en-US" b="1" u="sng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两相流体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的黏弹性非牛顿流体算法研究</a:t>
                </a:r>
              </a:p>
            </p:txBody>
          </p:sp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04BDF991-3022-40CD-AE19-5DCB3A06A40E}"/>
                  </a:ext>
                </a:extLst>
              </p:cNvPr>
              <p:cNvSpPr/>
              <p:nvPr/>
            </p:nvSpPr>
            <p:spPr>
              <a:xfrm>
                <a:off x="914399" y="1329664"/>
                <a:ext cx="1164381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基于隐式混合模型的多相流体框架</a:t>
                </a:r>
              </a:p>
            </p:txBody>
          </p:sp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19F1F40D-73FB-420B-88CB-0F8FC1E757D5}"/>
                  </a:ext>
                </a:extLst>
              </p:cNvPr>
              <p:cNvSpPr/>
              <p:nvPr/>
            </p:nvSpPr>
            <p:spPr>
              <a:xfrm>
                <a:off x="2151142" y="1329664"/>
                <a:ext cx="1164382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基于单一构象张量的黏度模型</a:t>
                </a:r>
              </a:p>
            </p:txBody>
          </p:sp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D2DFE394-05F9-4ABD-9144-FE60526D8C67}"/>
                  </a:ext>
                </a:extLst>
              </p:cNvPr>
              <p:cNvSpPr/>
              <p:nvPr/>
            </p:nvSpPr>
            <p:spPr>
              <a:xfrm>
                <a:off x="3387886" y="1329664"/>
                <a:ext cx="1164383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键合作用网络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39E28BD-B2C6-4AC1-A307-BD997AEBE241}"/>
                </a:ext>
              </a:extLst>
            </p:cNvPr>
            <p:cNvGrpSpPr/>
            <p:nvPr/>
          </p:nvGrpSpPr>
          <p:grpSpPr>
            <a:xfrm>
              <a:off x="1937344" y="2087005"/>
              <a:ext cx="3789168" cy="1506458"/>
              <a:chOff x="842037" y="434175"/>
              <a:chExt cx="3789168" cy="1506458"/>
            </a:xfrm>
          </p:grpSpPr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5AACB735-814F-4C91-9F44-B4CE078C9C63}"/>
                  </a:ext>
                </a:extLst>
              </p:cNvPr>
              <p:cNvSpPr/>
              <p:nvPr/>
            </p:nvSpPr>
            <p:spPr>
              <a:xfrm>
                <a:off x="842037" y="434175"/>
                <a:ext cx="3789168" cy="1506458"/>
              </a:xfrm>
              <a:prstGeom prst="roundRect">
                <a:avLst>
                  <a:gd name="adj" fmla="val 3418"/>
                </a:avLst>
              </a:prstGeom>
              <a:noFill/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0D93819-6FC5-4433-B272-A139CFB2DF40}"/>
                  </a:ext>
                </a:extLst>
              </p:cNvPr>
              <p:cNvSpPr txBox="1"/>
              <p:nvPr/>
            </p:nvSpPr>
            <p:spPr>
              <a:xfrm>
                <a:off x="1119910" y="541073"/>
                <a:ext cx="32399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研究点</a:t>
                </a:r>
                <a:r>
                  <a:rPr lang="en-US" altLang="zh-CN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针对</a:t>
                </a:r>
                <a:r>
                  <a:rPr lang="zh-CN" altLang="en-US" b="1" u="sng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任意多相流体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的统一黏弹性流体算法研究</a:t>
                </a:r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23D55723-9C80-497D-ACFF-7ADC91F81244}"/>
                  </a:ext>
                </a:extLst>
              </p:cNvPr>
              <p:cNvSpPr/>
              <p:nvPr/>
            </p:nvSpPr>
            <p:spPr>
              <a:xfrm>
                <a:off x="914399" y="1329664"/>
                <a:ext cx="1164381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基于隐式混合模型的多相流体框架</a:t>
                </a:r>
              </a:p>
            </p:txBody>
          </p:sp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FAA47C06-E7BE-4DF3-A511-A19E2E74BDBF}"/>
                  </a:ext>
                </a:extLst>
              </p:cNvPr>
              <p:cNvSpPr/>
              <p:nvPr/>
            </p:nvSpPr>
            <p:spPr>
              <a:xfrm>
                <a:off x="2151142" y="1329664"/>
                <a:ext cx="1164382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基于多模式构象张量的统一黏度模型</a:t>
                </a:r>
              </a:p>
            </p:txBody>
          </p:sp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CE29F462-423D-4BF7-B72A-B494F6425470}"/>
                  </a:ext>
                </a:extLst>
              </p:cNvPr>
              <p:cNvSpPr/>
              <p:nvPr/>
            </p:nvSpPr>
            <p:spPr>
              <a:xfrm>
                <a:off x="3387886" y="1329664"/>
                <a:ext cx="1164383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相间作用函数</a:t>
                </a:r>
              </a:p>
            </p:txBody>
          </p:sp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5A79D2F5-601C-4E7B-A823-4F4F9CCB015E}"/>
                </a:ext>
              </a:extLst>
            </p:cNvPr>
            <p:cNvCxnSpPr>
              <a:stCxn id="4" idx="2"/>
              <a:endCxn id="11" idx="0"/>
            </p:cNvCxnSpPr>
            <p:nvPr/>
          </p:nvCxnSpPr>
          <p:spPr>
            <a:xfrm flipH="1">
              <a:off x="3831928" y="1722721"/>
              <a:ext cx="3287" cy="36428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1B1EFD4-B276-4C07-BAF8-76114E693682}"/>
                </a:ext>
              </a:extLst>
            </p:cNvPr>
            <p:cNvGrpSpPr/>
            <p:nvPr/>
          </p:nvGrpSpPr>
          <p:grpSpPr>
            <a:xfrm>
              <a:off x="1940631" y="3957747"/>
              <a:ext cx="3789168" cy="1506458"/>
              <a:chOff x="842037" y="434175"/>
              <a:chExt cx="3789168" cy="1506458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9B42BFA0-8F2D-47C1-81B3-E8231FE906FC}"/>
                  </a:ext>
                </a:extLst>
              </p:cNvPr>
              <p:cNvSpPr/>
              <p:nvPr/>
            </p:nvSpPr>
            <p:spPr>
              <a:xfrm>
                <a:off x="842037" y="434175"/>
                <a:ext cx="3789168" cy="1506458"/>
              </a:xfrm>
              <a:prstGeom prst="roundRect">
                <a:avLst>
                  <a:gd name="adj" fmla="val 3418"/>
                </a:avLst>
              </a:prstGeom>
              <a:noFill/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C332436-63DD-4D28-B8F3-BC1B39DE95AF}"/>
                  </a:ext>
                </a:extLst>
              </p:cNvPr>
              <p:cNvSpPr txBox="1"/>
              <p:nvPr/>
            </p:nvSpPr>
            <p:spPr>
              <a:xfrm>
                <a:off x="1119910" y="541073"/>
                <a:ext cx="32399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研究点</a:t>
                </a:r>
                <a:r>
                  <a:rPr lang="en-US" altLang="zh-CN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针对</a:t>
                </a:r>
                <a:r>
                  <a:rPr lang="zh-CN" altLang="en-US" b="1" u="sng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骨水泥注射手术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的仿真模拟</a:t>
                </a:r>
              </a:p>
            </p:txBody>
          </p:sp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1CF6E676-7598-4ABE-B73A-A47BC62C6D82}"/>
                  </a:ext>
                </a:extLst>
              </p:cNvPr>
              <p:cNvSpPr/>
              <p:nvPr/>
            </p:nvSpPr>
            <p:spPr>
              <a:xfrm>
                <a:off x="914399" y="1329664"/>
                <a:ext cx="1164381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端到端流程设计</a:t>
                </a:r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A425AFFC-4BAF-4509-AC0F-C6AD1599AD08}"/>
                  </a:ext>
                </a:extLst>
              </p:cNvPr>
              <p:cNvSpPr/>
              <p:nvPr/>
            </p:nvSpPr>
            <p:spPr>
              <a:xfrm>
                <a:off x="2151142" y="1329664"/>
                <a:ext cx="1164382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椎骨与注射器械的离散建模</a:t>
                </a: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44217502-A1DD-4B5B-AADB-68F9FF2BA5D1}"/>
                  </a:ext>
                </a:extLst>
              </p:cNvPr>
              <p:cNvSpPr/>
              <p:nvPr/>
            </p:nvSpPr>
            <p:spPr>
              <a:xfrm>
                <a:off x="3387886" y="1329664"/>
                <a:ext cx="1164383" cy="41444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输出与可视化模块</a:t>
                </a:r>
              </a:p>
            </p:txBody>
          </p:sp>
        </p:grp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077AF341-350C-4445-8510-E3AAAB07A6CC}"/>
                </a:ext>
              </a:extLst>
            </p:cNvPr>
            <p:cNvCxnSpPr>
              <a:stCxn id="11" idx="2"/>
              <a:endCxn id="19" idx="0"/>
            </p:cNvCxnSpPr>
            <p:nvPr/>
          </p:nvCxnSpPr>
          <p:spPr>
            <a:xfrm>
              <a:off x="3831928" y="3593463"/>
              <a:ext cx="3287" cy="36428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331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94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 s</dc:creator>
  <cp:lastModifiedBy>l s</cp:lastModifiedBy>
  <cp:revision>4</cp:revision>
  <dcterms:created xsi:type="dcterms:W3CDTF">2026-01-27T08:06:45Z</dcterms:created>
  <dcterms:modified xsi:type="dcterms:W3CDTF">2026-01-27T08:45:50Z</dcterms:modified>
</cp:coreProperties>
</file>