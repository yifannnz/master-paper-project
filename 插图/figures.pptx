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AFE2"/>
    <a:srgbClr val="FAD0EE"/>
    <a:srgbClr val="F59DDC"/>
    <a:srgbClr val="FDE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147AC-693B-4BBA-8F98-9354B695C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93DB63-50EB-4645-8AE7-E1B2E92EA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0E193A-935D-4797-AD44-2C5D048D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B81587-A228-4229-8B8B-1ECA0C99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31B06C-571B-4B16-B690-C09784A1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63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EC560-4509-4962-9809-D1A6AF05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CD62EE-F0D1-4ACB-A8F3-C382BDD29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49A77F-1B97-49DD-A1A8-44505023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0B1A59-EE25-4E27-BD09-1750DBEBF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9B73FC-888F-4883-8558-459E40A0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66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8D536-C5C2-473B-B039-BC1EB2D6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782DCB-8221-4369-B12E-0B9A24CD2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E7CCF6-3682-46B7-AF42-BB46A5D99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715CD2-C9F6-4400-B357-77B78022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B54E3D-14E2-4352-BDE8-FDD1C085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681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4706E-958D-4852-B006-D22E8CC1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14E5E8-1580-4AC2-8F09-B067E7D18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D56BE8-8065-445A-B665-3E7882213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7B2B12-60FD-49B7-8B34-82FEF819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24F83B-B2B8-4745-A9CD-041A81C9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C279DB-84D0-48D0-956C-4FF8F6C3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23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C4C7C-2660-44F1-85B6-5A4756F8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852E51-32FF-4C54-AA8F-ECE542945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2C117D-D79F-45E4-BF38-B112E468C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3944DC-8B57-4568-AB14-23850413F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152DBF-9596-4CC5-B3BE-03DA404BF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4B9170-56A3-42AC-A2B1-0EC67818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752FC9-086E-48A8-AF9A-CAEE60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0CFE87-00C8-4F24-9E86-55609D4E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14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10491-55B0-4898-8D8A-8EAB792C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9FB76B-AC7D-4A57-AF6D-990A0F43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725371-72BD-4F2A-A0EB-3E4F7AD0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B9D9C2-5FE4-4CEB-81E0-39E5266C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980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47441F-FB85-46A0-8DD4-5D1B78618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379D53-335F-4D21-8206-9BCCFA12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114362-6D33-4FBD-AFBF-202A9E7F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32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95937-44E8-450B-99F0-E0404CD9B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FC4695-D625-48C9-B022-F56EF700D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EB371B-601C-458E-9BAE-45C05822A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C8D5DE-67CE-43C4-A3D4-0BD7FFD1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A8621D-208E-44E3-98B4-A82D40DB3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16B49F-8171-4735-8377-8C0A5B653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40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CF417-3AE9-415F-966B-FC5196B79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FEEFE1-94DE-41B6-98FB-F78230EF4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915410-7BD7-4D5B-A1CA-7A1B7C516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98F975-1897-4EF7-89C6-28EB7F86C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A62BCA-A737-4D39-9764-460B82B49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81530F-9866-4D76-B5F1-4EA870A6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43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B919F-B85E-42A4-AD6B-F79D2FEB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77C7CF-2F89-43F3-ADC1-D89640E07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5EDCFF-A6D3-41D0-901D-BED92E804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6EADD-8DD8-482C-BCB1-F078DD44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DEED06-4095-4CA9-BA62-B07F5CC9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79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0B152D-0DCB-4872-9A51-FD2C607B8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ECCDC5-E860-401A-9319-143E8E086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DB4501-8D2D-4C36-A4FC-87F134C8A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6E1DA7-65F4-46CA-B56D-9C68F5E1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2B4849-230E-4B31-84AF-2A1677CA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5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E197154-0BB1-4B20-ABE0-4EFE2479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BD0606-2087-48B2-93A2-6CD32F47F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00C91-0FB3-40CB-BE91-BD934A239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06CCE-5F7B-4EE2-B513-11FCC00559B2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4885DA-0CB1-474D-B2E3-C5BB452EE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227D4C-25B3-450C-9188-2FE919A6C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5A896-CD68-47F1-A235-81898C059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731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A9FFC58-9362-B571-ADB4-45924BC5C86E}"/>
              </a:ext>
            </a:extLst>
          </p:cNvPr>
          <p:cNvSpPr/>
          <p:nvPr/>
        </p:nvSpPr>
        <p:spPr>
          <a:xfrm>
            <a:off x="2205108" y="651956"/>
            <a:ext cx="880155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原子级纳观影像质量提升与分割算法研究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F883855-8748-E64A-0ECF-96C60DB4DA18}"/>
              </a:ext>
            </a:extLst>
          </p:cNvPr>
          <p:cNvGrpSpPr/>
          <p:nvPr/>
        </p:nvGrpSpPr>
        <p:grpSpPr>
          <a:xfrm>
            <a:off x="2205107" y="1087677"/>
            <a:ext cx="2254684" cy="4534422"/>
            <a:chOff x="2205107" y="1087677"/>
            <a:chExt cx="2254684" cy="4534422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B4C516B-0417-55BB-61F0-417021F0D66B}"/>
                </a:ext>
              </a:extLst>
            </p:cNvPr>
            <p:cNvSpPr/>
            <p:nvPr/>
          </p:nvSpPr>
          <p:spPr>
            <a:xfrm>
              <a:off x="2205107" y="1087677"/>
              <a:ext cx="2254684" cy="453442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456F9A1-C691-0CFC-512D-98702443C2C3}"/>
                </a:ext>
              </a:extLst>
            </p:cNvPr>
            <p:cNvSpPr txBox="1"/>
            <p:nvPr/>
          </p:nvSpPr>
          <p:spPr>
            <a:xfrm>
              <a:off x="2823435" y="1158657"/>
              <a:ext cx="10180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研究目标</a:t>
              </a: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3232DE9B-B933-65B5-AC12-697FFBC9A491}"/>
              </a:ext>
            </a:extLst>
          </p:cNvPr>
          <p:cNvSpPr/>
          <p:nvPr/>
        </p:nvSpPr>
        <p:spPr>
          <a:xfrm>
            <a:off x="4720228" y="1087677"/>
            <a:ext cx="3746439" cy="4534422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5223667-A6CA-F4DA-CBC9-2AB14DFAFD30}"/>
              </a:ext>
            </a:extLst>
          </p:cNvPr>
          <p:cNvSpPr txBox="1"/>
          <p:nvPr/>
        </p:nvSpPr>
        <p:spPr>
          <a:xfrm>
            <a:off x="6086771" y="1158657"/>
            <a:ext cx="1013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1C1B2B8-52AA-A837-3222-3509251FEB49}"/>
              </a:ext>
            </a:extLst>
          </p:cNvPr>
          <p:cNvGrpSpPr/>
          <p:nvPr/>
        </p:nvGrpSpPr>
        <p:grpSpPr>
          <a:xfrm>
            <a:off x="8718705" y="1087677"/>
            <a:ext cx="2254684" cy="4534422"/>
            <a:chOff x="7235349" y="1087677"/>
            <a:chExt cx="2254684" cy="4534422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A76885A-6A8B-D83D-B039-A096E4C9578D}"/>
                </a:ext>
              </a:extLst>
            </p:cNvPr>
            <p:cNvSpPr/>
            <p:nvPr/>
          </p:nvSpPr>
          <p:spPr>
            <a:xfrm>
              <a:off x="7235349" y="1087677"/>
              <a:ext cx="2254684" cy="453442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4ABF334-F82E-C03B-F6F2-7D71367BB4DA}"/>
                </a:ext>
              </a:extLst>
            </p:cNvPr>
            <p:cNvSpPr txBox="1"/>
            <p:nvPr/>
          </p:nvSpPr>
          <p:spPr>
            <a:xfrm>
              <a:off x="7844107" y="1158657"/>
              <a:ext cx="10371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关键问题</a:t>
              </a: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E89E8B6F-2C9B-4443-DF54-FC6A3DDAEBAA}"/>
              </a:ext>
            </a:extLst>
          </p:cNvPr>
          <p:cNvSpPr/>
          <p:nvPr/>
        </p:nvSpPr>
        <p:spPr>
          <a:xfrm>
            <a:off x="2319836" y="4395893"/>
            <a:ext cx="2025226" cy="10363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ysClr val="windowText" lastClr="000000"/>
                </a:solidFill>
              </a:rPr>
              <a:t>辅助材料表征</a:t>
            </a:r>
            <a:endParaRPr lang="zh-CN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B82AA7-90B9-B9DF-0788-E2A5084A4A13}"/>
              </a:ext>
            </a:extLst>
          </p:cNvPr>
          <p:cNvSpPr/>
          <p:nvPr/>
        </p:nvSpPr>
        <p:spPr>
          <a:xfrm>
            <a:off x="2319836" y="3022752"/>
            <a:ext cx="2025226" cy="10363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ysClr val="windowText" lastClr="000000"/>
                </a:solidFill>
              </a:rPr>
              <a:t>提高分割精度</a:t>
            </a:r>
            <a:endParaRPr lang="zh-CN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CBCFE8-39C7-954C-0DAB-CF2F7C0D5B06}"/>
              </a:ext>
            </a:extLst>
          </p:cNvPr>
          <p:cNvSpPr/>
          <p:nvPr/>
        </p:nvSpPr>
        <p:spPr>
          <a:xfrm>
            <a:off x="2319836" y="1613813"/>
            <a:ext cx="2025226" cy="10363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ysClr val="windowText" lastClr="000000"/>
                </a:solidFill>
              </a:rPr>
              <a:t>提升图像质量</a:t>
            </a:r>
            <a:endParaRPr lang="zh-CN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C82BDD-55A0-D433-12AD-85644A855B49}"/>
              </a:ext>
            </a:extLst>
          </p:cNvPr>
          <p:cNvSpPr/>
          <p:nvPr/>
        </p:nvSpPr>
        <p:spPr>
          <a:xfrm>
            <a:off x="4834956" y="3022752"/>
            <a:ext cx="3482695" cy="1036319"/>
          </a:xfrm>
          <a:prstGeom prst="rect">
            <a:avLst/>
          </a:prstGeom>
          <a:solidFill>
            <a:srgbClr val="FDE7F7"/>
          </a:solidFill>
          <a:ln>
            <a:solidFill>
              <a:srgbClr val="FDE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ysClr val="windowText" lastClr="000000"/>
                </a:solidFill>
              </a:rPr>
              <a:t>基于多源特征联合优化的原子定位</a:t>
            </a:r>
            <a:endParaRPr lang="en-US" altLang="zh-CN" sz="1400" b="1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sz="1400" b="1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sz="1400" b="1" dirty="0">
              <a:solidFill>
                <a:sysClr val="windowText" lastClr="000000"/>
              </a:solidFill>
            </a:endParaRPr>
          </a:p>
          <a:p>
            <a:pPr algn="ctr"/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69157C-6466-B051-139F-68099155821F}"/>
              </a:ext>
            </a:extLst>
          </p:cNvPr>
          <p:cNvSpPr/>
          <p:nvPr/>
        </p:nvSpPr>
        <p:spPr>
          <a:xfrm>
            <a:off x="4834957" y="4395892"/>
            <a:ext cx="3482694" cy="1036319"/>
          </a:xfrm>
          <a:prstGeom prst="rect">
            <a:avLst/>
          </a:prstGeom>
          <a:solidFill>
            <a:srgbClr val="FDE7F7"/>
          </a:solidFill>
          <a:ln>
            <a:solidFill>
              <a:srgbClr val="FDE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ysClr val="windowText" lastClr="000000"/>
                </a:solidFill>
              </a:rPr>
              <a:t>原子级视频信息的动态提取分析系统</a:t>
            </a:r>
            <a:endParaRPr lang="en-US" altLang="zh-CN" sz="1400" b="1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sz="1400" b="1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sz="1400" b="1" dirty="0">
              <a:solidFill>
                <a:sysClr val="windowText" lastClr="000000"/>
              </a:solidFill>
            </a:endParaRPr>
          </a:p>
          <a:p>
            <a:pPr algn="ctr"/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947A4E-0987-43FD-22CA-8E93C7173E02}"/>
              </a:ext>
            </a:extLst>
          </p:cNvPr>
          <p:cNvSpPr/>
          <p:nvPr/>
        </p:nvSpPr>
        <p:spPr>
          <a:xfrm>
            <a:off x="8833434" y="1613813"/>
            <a:ext cx="2025226" cy="10363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ysClr val="windowText" lastClr="000000"/>
                </a:solidFill>
              </a:rPr>
              <a:t>缺少物理约束，难以生成质量保持的图像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C4676C-03FA-7DEE-F61D-C040B0E8E5AC}"/>
              </a:ext>
            </a:extLst>
          </p:cNvPr>
          <p:cNvSpPr/>
          <p:nvPr/>
        </p:nvSpPr>
        <p:spPr>
          <a:xfrm>
            <a:off x="8833434" y="3022752"/>
            <a:ext cx="2025226" cy="10363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ysClr val="windowText" lastClr="000000"/>
                </a:solidFill>
              </a:rPr>
              <a:t>质量提升与原子分割的多源特征难以联合优化提升整体精度</a:t>
            </a:r>
            <a:endParaRPr lang="zh-CN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F76D73-A7F8-64E3-BC13-3AC960D73382}"/>
              </a:ext>
            </a:extLst>
          </p:cNvPr>
          <p:cNvSpPr/>
          <p:nvPr/>
        </p:nvSpPr>
        <p:spPr>
          <a:xfrm>
            <a:off x="8833434" y="4395892"/>
            <a:ext cx="2025226" cy="10363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ysClr val="windowText" lastClr="000000"/>
                </a:solidFill>
              </a:rPr>
              <a:t>时序图像的关键信息批量提取的自动化程度低、集成性差</a:t>
            </a:r>
            <a:endParaRPr lang="zh-CN" altLang="en-US" sz="1600" dirty="0">
              <a:solidFill>
                <a:sysClr val="windowText" lastClr="000000"/>
              </a:solidFill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76599D4-E46B-020F-E67D-41D414F561DB}"/>
              </a:ext>
            </a:extLst>
          </p:cNvPr>
          <p:cNvGrpSpPr/>
          <p:nvPr/>
        </p:nvGrpSpPr>
        <p:grpSpPr>
          <a:xfrm>
            <a:off x="4864539" y="1514393"/>
            <a:ext cx="3482696" cy="1235158"/>
            <a:chOff x="4864539" y="1514393"/>
            <a:chExt cx="3482696" cy="123515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F9549DF-5555-85C8-4CF3-6ACE02F819E4}"/>
                </a:ext>
              </a:extLst>
            </p:cNvPr>
            <p:cNvSpPr/>
            <p:nvPr/>
          </p:nvSpPr>
          <p:spPr>
            <a:xfrm>
              <a:off x="4864539" y="1514393"/>
              <a:ext cx="3482696" cy="1235158"/>
            </a:xfrm>
            <a:prstGeom prst="rect">
              <a:avLst/>
            </a:prstGeom>
            <a:solidFill>
              <a:srgbClr val="FDE7F7"/>
            </a:solidFill>
            <a:ln>
              <a:solidFill>
                <a:srgbClr val="FDE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b="1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zh-CN" altLang="en-US" sz="1400" b="1" dirty="0">
                  <a:solidFill>
                    <a:sysClr val="windowText" lastClr="000000"/>
                  </a:solidFill>
                </a:rPr>
                <a:t>基于结构保持的非配对图像质量提升</a:t>
              </a:r>
              <a:endParaRPr lang="en-US" altLang="zh-CN" sz="14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zh-CN" sz="14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zh-CN" sz="14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zh-CN" sz="14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zh-CN" sz="14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zh-CN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2D95E1A-7E21-25C9-90E9-DECB6DC64B62}"/>
                </a:ext>
              </a:extLst>
            </p:cNvPr>
            <p:cNvSpPr/>
            <p:nvPr/>
          </p:nvSpPr>
          <p:spPr>
            <a:xfrm>
              <a:off x="4989426" y="1856981"/>
              <a:ext cx="3213016" cy="255206"/>
            </a:xfrm>
            <a:prstGeom prst="rect">
              <a:avLst/>
            </a:prstGeom>
            <a:solidFill>
              <a:srgbClr val="F7AFE2"/>
            </a:solidFill>
            <a:ln>
              <a:solidFill>
                <a:srgbClr val="F7A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空域频域联合特征提取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83C87AC-AFF1-14DD-78EC-B7CB6B01FFA2}"/>
                </a:ext>
              </a:extLst>
            </p:cNvPr>
            <p:cNvSpPr/>
            <p:nvPr/>
          </p:nvSpPr>
          <p:spPr>
            <a:xfrm>
              <a:off x="4989426" y="2465591"/>
              <a:ext cx="3213016" cy="223476"/>
            </a:xfrm>
            <a:prstGeom prst="rect">
              <a:avLst/>
            </a:prstGeom>
            <a:solidFill>
              <a:srgbClr val="F7AFE2"/>
            </a:solidFill>
            <a:ln>
              <a:solidFill>
                <a:srgbClr val="F7A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特征函数与频域一致性的结构约束设计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04E9FC4-36AB-1F85-4106-25CAC4B7EEEB}"/>
                </a:ext>
              </a:extLst>
            </p:cNvPr>
            <p:cNvSpPr/>
            <p:nvPr/>
          </p:nvSpPr>
          <p:spPr>
            <a:xfrm>
              <a:off x="4989426" y="2177151"/>
              <a:ext cx="3213016" cy="223476"/>
            </a:xfrm>
            <a:prstGeom prst="rect">
              <a:avLst/>
            </a:prstGeom>
            <a:solidFill>
              <a:srgbClr val="F7AFE2"/>
            </a:solidFill>
            <a:ln>
              <a:solidFill>
                <a:srgbClr val="F7AF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基于自注意力的全局结构一致性建模</a:t>
              </a: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32F1C4A3-CF48-6BAF-364F-928194DA76C7}"/>
              </a:ext>
            </a:extLst>
          </p:cNvPr>
          <p:cNvSpPr/>
          <p:nvPr/>
        </p:nvSpPr>
        <p:spPr>
          <a:xfrm>
            <a:off x="4999379" y="3386638"/>
            <a:ext cx="3213016" cy="255206"/>
          </a:xfrm>
          <a:prstGeom prst="rect">
            <a:avLst/>
          </a:prstGeom>
          <a:solidFill>
            <a:srgbClr val="F7AFE2"/>
          </a:solidFill>
          <a:ln>
            <a:solidFill>
              <a:srgbClr val="F7A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空域频域联合特征提取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3F5C70-2C56-412E-6535-AC7206CAE63A}"/>
              </a:ext>
            </a:extLst>
          </p:cNvPr>
          <p:cNvSpPr/>
          <p:nvPr/>
        </p:nvSpPr>
        <p:spPr>
          <a:xfrm>
            <a:off x="4999379" y="3722854"/>
            <a:ext cx="3213016" cy="255206"/>
          </a:xfrm>
          <a:prstGeom prst="rect">
            <a:avLst/>
          </a:prstGeom>
          <a:solidFill>
            <a:srgbClr val="F7AFE2"/>
          </a:solidFill>
          <a:ln>
            <a:solidFill>
              <a:srgbClr val="F7A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空域频域联合特征提取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7AD4322-FA78-12AD-B0FC-BAD2DB5FC3D9}"/>
              </a:ext>
            </a:extLst>
          </p:cNvPr>
          <p:cNvSpPr/>
          <p:nvPr/>
        </p:nvSpPr>
        <p:spPr>
          <a:xfrm>
            <a:off x="4999379" y="4759186"/>
            <a:ext cx="3213016" cy="255206"/>
          </a:xfrm>
          <a:prstGeom prst="rect">
            <a:avLst/>
          </a:prstGeom>
          <a:solidFill>
            <a:srgbClr val="F7AFE2"/>
          </a:solidFill>
          <a:ln>
            <a:solidFill>
              <a:srgbClr val="F7A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自动化原子位置识别与处理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3899F6-5237-1565-70FE-EF20BAD1FE7B}"/>
              </a:ext>
            </a:extLst>
          </p:cNvPr>
          <p:cNvSpPr/>
          <p:nvPr/>
        </p:nvSpPr>
        <p:spPr>
          <a:xfrm>
            <a:off x="4999379" y="5096007"/>
            <a:ext cx="3213016" cy="255206"/>
          </a:xfrm>
          <a:prstGeom prst="rect">
            <a:avLst/>
          </a:prstGeom>
          <a:solidFill>
            <a:srgbClr val="F7AFE2"/>
          </a:solidFill>
          <a:ln>
            <a:solidFill>
              <a:srgbClr val="F7A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细粒度信息动态提取</a:t>
            </a:r>
          </a:p>
        </p:txBody>
      </p:sp>
    </p:spTree>
    <p:extLst>
      <p:ext uri="{BB962C8B-B14F-4D97-AF65-F5344CB8AC3E}">
        <p14:creationId xmlns:p14="http://schemas.microsoft.com/office/powerpoint/2010/main" val="3853310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130</Words>
  <Application>Microsoft Office PowerPoint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 s</dc:creator>
  <cp:lastModifiedBy>l s</cp:lastModifiedBy>
  <cp:revision>33</cp:revision>
  <dcterms:created xsi:type="dcterms:W3CDTF">2026-01-27T08:06:45Z</dcterms:created>
  <dcterms:modified xsi:type="dcterms:W3CDTF">2026-02-09T10:49:44Z</dcterms:modified>
</cp:coreProperties>
</file>