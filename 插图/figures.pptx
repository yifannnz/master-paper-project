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FE2"/>
    <a:srgbClr val="FAD0EE"/>
    <a:srgbClr val="F59DDC"/>
    <a:srgbClr val="FDE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4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E147AC-693B-4BBA-8F98-9354B695C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93DB63-50EB-4645-8AE7-E1B2E92EAE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0E193A-935D-4797-AD44-2C5D048D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B81587-A228-4229-8B8B-1ECA0C99B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31B06C-571B-4B16-B690-C09784A1C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0631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5EC560-4509-4962-9809-D1A6AF053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CD62EE-F0D1-4ACB-A8F3-C382BDD29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49A77F-1B97-49DD-A1A8-44505023A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0B1A59-EE25-4E27-BD09-1750DBE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9B73FC-888F-4883-8558-459E40A0C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665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58D536-C5C2-473B-B039-BC1EB2D63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782DCB-8221-4369-B12E-0B9A24CD2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7CCF6-3682-46B7-AF42-BB46A5D99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715CD2-C9F6-4400-B357-77B78022C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B54E3D-14E2-4352-BDE8-FDD1C085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0681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4706E-958D-4852-B006-D22E8CC1F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14E5E8-1580-4AC2-8F09-B067E7D18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D56BE8-8065-445A-B665-3E7882213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77B2B12-60FD-49B7-8B34-82FEF819D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24F83B-B2B8-4745-A9CD-041A81C9F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C279DB-84D0-48D0-956C-4FF8F6C3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223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C4C7C-2660-44F1-85B6-5A4756F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4852E51-32FF-4C54-AA8F-ECE542945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12C117D-D79F-45E4-BF38-B112E468C6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D3944DC-8B57-4568-AB14-23850413FF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A152DBF-9596-4CC5-B3BE-03DA404BF2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D4B9170-56A3-42AC-A2B1-0EC678187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9752FC9-086E-48A8-AF9A-CAEE60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E0CFE87-00C8-4F24-9E86-55609D4E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1146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710491-55B0-4898-8D8A-8EAB792C9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89FB76B-AC7D-4A57-AF6D-990A0F43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2725371-72BD-4F2A-A0EB-3E4F7AD0D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CB9D9C2-5FE4-4CEB-81E0-39E5266C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980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47441F-FB85-46A0-8DD4-5D1B78618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2379D53-335F-4D21-8206-9BCCFA12A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114362-6D33-4FBD-AFBF-202A9E7F0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6321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895937-44E8-450B-99F0-E0404CD9B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FC4695-D625-48C9-B022-F56EF700D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4EB371B-601C-458E-9BAE-45C05822A3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C8D5DE-67CE-43C4-A3D4-0BD7FFD10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6A8621D-208E-44E3-98B4-A82D40DB3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116B49F-8171-4735-8377-8C0A5B653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407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2CF417-3AE9-415F-966B-FC5196B79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CFEEFE1-94DE-41B6-98FB-F78230EF42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915410-7BD7-4D5B-A1CA-7A1B7C516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98F975-1897-4EF7-89C6-28EB7F86C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A62BCA-A737-4D39-9764-460B82B49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81530F-9866-4D76-B5F1-4EA870A64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143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6B919F-B85E-42A4-AD6B-F79D2FEB0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B77C7CF-2F89-43F3-ADC1-D89640E07F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EDCFF-A6D3-41D0-901D-BED92E804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6EADD-8DD8-482C-BCB1-F078DD441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DEED06-4095-4CA9-BA62-B07F5CC99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797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C0B152D-0DCB-4872-9A51-FD2C607B89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3ECCDC5-E860-401A-9319-143E8E0868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DB4501-8D2D-4C36-A4FC-87F134C8A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6E1DA7-65F4-46CA-B56D-9C68F5E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2B4849-230E-4B31-84AF-2A1677C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85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E197154-0BB1-4B20-ABE0-4EFE2479D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BD0606-2087-48B2-93A2-6CD32F47F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C00C91-0FB3-40CB-BE91-BD934A2393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06CCE-5F7B-4EE2-B513-11FCC00559B2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4885DA-0CB1-474D-B2E3-C5BB452E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227D4C-25B3-450C-9188-2FE919A6C0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5A896-CD68-47F1-A235-81898C059F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731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AE596ACD-15C9-7BCF-012F-E6624A181154}"/>
              </a:ext>
            </a:extLst>
          </p:cNvPr>
          <p:cNvGrpSpPr/>
          <p:nvPr/>
        </p:nvGrpSpPr>
        <p:grpSpPr>
          <a:xfrm>
            <a:off x="1778386" y="712916"/>
            <a:ext cx="8801560" cy="4970143"/>
            <a:chOff x="2205107" y="651956"/>
            <a:chExt cx="8801560" cy="4970143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A9FFC58-9362-B571-ADB4-45924BC5C86E}"/>
                </a:ext>
              </a:extLst>
            </p:cNvPr>
            <p:cNvSpPr/>
            <p:nvPr/>
          </p:nvSpPr>
          <p:spPr>
            <a:xfrm>
              <a:off x="2205108" y="651956"/>
              <a:ext cx="8801559" cy="36933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原子级纳观影像质量提升与分割算法研究</a:t>
              </a:r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AF883855-8748-E64A-0ECF-96C60DB4DA18}"/>
                </a:ext>
              </a:extLst>
            </p:cNvPr>
            <p:cNvGrpSpPr/>
            <p:nvPr/>
          </p:nvGrpSpPr>
          <p:grpSpPr>
            <a:xfrm>
              <a:off x="2205107" y="1087677"/>
              <a:ext cx="2254684" cy="4534422"/>
              <a:chOff x="2205107" y="1087677"/>
              <a:chExt cx="2254684" cy="4534422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B4C516B-0417-55BB-61F0-417021F0D66B}"/>
                  </a:ext>
                </a:extLst>
              </p:cNvPr>
              <p:cNvSpPr/>
              <p:nvPr/>
            </p:nvSpPr>
            <p:spPr>
              <a:xfrm>
                <a:off x="2205107" y="1087677"/>
                <a:ext cx="2254684" cy="453442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0456F9A1-C691-0CFC-512D-98702443C2C3}"/>
                  </a:ext>
                </a:extLst>
              </p:cNvPr>
              <p:cNvSpPr txBox="1"/>
              <p:nvPr/>
            </p:nvSpPr>
            <p:spPr>
              <a:xfrm>
                <a:off x="2823435" y="1158657"/>
                <a:ext cx="10180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研究目标</a:t>
                </a: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232DE9B-B933-65B5-AC12-697FFBC9A491}"/>
                </a:ext>
              </a:extLst>
            </p:cNvPr>
            <p:cNvSpPr/>
            <p:nvPr/>
          </p:nvSpPr>
          <p:spPr>
            <a:xfrm>
              <a:off x="4720228" y="1087677"/>
              <a:ext cx="3746439" cy="453442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5223667-A6CA-F4DA-CBC9-2AB14DFAFD30}"/>
                </a:ext>
              </a:extLst>
            </p:cNvPr>
            <p:cNvSpPr txBox="1"/>
            <p:nvPr/>
          </p:nvSpPr>
          <p:spPr>
            <a:xfrm>
              <a:off x="6086771" y="1158657"/>
              <a:ext cx="10133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研究内容</a:t>
              </a:r>
            </a:p>
          </p:txBody>
        </p: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B1C1B2B8-52AA-A837-3222-3509251FEB49}"/>
                </a:ext>
              </a:extLst>
            </p:cNvPr>
            <p:cNvGrpSpPr/>
            <p:nvPr/>
          </p:nvGrpSpPr>
          <p:grpSpPr>
            <a:xfrm>
              <a:off x="8718705" y="1087677"/>
              <a:ext cx="2254684" cy="4534422"/>
              <a:chOff x="7235349" y="1087677"/>
              <a:chExt cx="2254684" cy="4534422"/>
            </a:xfrm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9A76885A-6A8B-D83D-B039-A096E4C9578D}"/>
                  </a:ext>
                </a:extLst>
              </p:cNvPr>
              <p:cNvSpPr/>
              <p:nvPr/>
            </p:nvSpPr>
            <p:spPr>
              <a:xfrm>
                <a:off x="7235349" y="1087677"/>
                <a:ext cx="2254684" cy="453442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4ABF334-F82E-C03B-F6F2-7D71367BB4DA}"/>
                  </a:ext>
                </a:extLst>
              </p:cNvPr>
              <p:cNvSpPr txBox="1"/>
              <p:nvPr/>
            </p:nvSpPr>
            <p:spPr>
              <a:xfrm>
                <a:off x="7844107" y="1158657"/>
                <a:ext cx="10371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关键问题</a:t>
                </a:r>
              </a:p>
            </p:txBody>
          </p:sp>
        </p:grp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89E8B6F-2C9B-4443-DF54-FC6A3DDAEBAA}"/>
                </a:ext>
              </a:extLst>
            </p:cNvPr>
            <p:cNvSpPr/>
            <p:nvPr/>
          </p:nvSpPr>
          <p:spPr>
            <a:xfrm>
              <a:off x="2319836" y="4395893"/>
              <a:ext cx="2025226" cy="10363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辅助材料表征</a:t>
              </a:r>
              <a:endParaRPr lang="zh-CN" alt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8B82AA7-90B9-B9DF-0788-E2A5084A4A13}"/>
                </a:ext>
              </a:extLst>
            </p:cNvPr>
            <p:cNvSpPr/>
            <p:nvPr/>
          </p:nvSpPr>
          <p:spPr>
            <a:xfrm>
              <a:off x="2319836" y="3022752"/>
              <a:ext cx="2025226" cy="10363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提高分割精度</a:t>
              </a:r>
              <a:endParaRPr lang="zh-CN" alt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7CBCFE8-39C7-954C-0DAB-CF2F7C0D5B06}"/>
                </a:ext>
              </a:extLst>
            </p:cNvPr>
            <p:cNvSpPr/>
            <p:nvPr/>
          </p:nvSpPr>
          <p:spPr>
            <a:xfrm>
              <a:off x="2319836" y="1613813"/>
              <a:ext cx="2025226" cy="10363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提升图像质量</a:t>
              </a:r>
              <a:endParaRPr lang="zh-CN" alt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CC82BDD-55A0-D433-12AD-85644A855B49}"/>
                </a:ext>
              </a:extLst>
            </p:cNvPr>
            <p:cNvSpPr/>
            <p:nvPr/>
          </p:nvSpPr>
          <p:spPr>
            <a:xfrm>
              <a:off x="4834956" y="3022752"/>
              <a:ext cx="3482695" cy="1036319"/>
            </a:xfrm>
            <a:prstGeom prst="rect">
              <a:avLst/>
            </a:prstGeom>
            <a:solidFill>
              <a:srgbClr val="FDE7F7"/>
            </a:solidFill>
            <a:ln>
              <a:solidFill>
                <a:srgbClr val="FDE7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ysClr val="windowText" lastClr="000000"/>
                  </a:solidFill>
                </a:rPr>
                <a:t>基于多源特征联合优化的原子定位</a:t>
              </a:r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zh-CN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B69157C-6466-B051-139F-68099155821F}"/>
                </a:ext>
              </a:extLst>
            </p:cNvPr>
            <p:cNvSpPr/>
            <p:nvPr/>
          </p:nvSpPr>
          <p:spPr>
            <a:xfrm>
              <a:off x="4834957" y="4395892"/>
              <a:ext cx="3482694" cy="1036319"/>
            </a:xfrm>
            <a:prstGeom prst="rect">
              <a:avLst/>
            </a:prstGeom>
            <a:solidFill>
              <a:srgbClr val="FDE7F7"/>
            </a:solidFill>
            <a:ln>
              <a:solidFill>
                <a:srgbClr val="FDE7F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ysClr val="windowText" lastClr="000000"/>
                  </a:solidFill>
                </a:rPr>
                <a:t>原子级视频信息的动态提取分析系统</a:t>
              </a:r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zh-CN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6947A4E-0987-43FD-22CA-8E93C7173E02}"/>
                </a:ext>
              </a:extLst>
            </p:cNvPr>
            <p:cNvSpPr/>
            <p:nvPr/>
          </p:nvSpPr>
          <p:spPr>
            <a:xfrm>
              <a:off x="8833434" y="1613813"/>
              <a:ext cx="2025226" cy="103631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缺少物理约束，难以生成质量保持的图像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9C4676C-03FA-7DEE-F61D-C040B0E8E5AC}"/>
                </a:ext>
              </a:extLst>
            </p:cNvPr>
            <p:cNvSpPr/>
            <p:nvPr/>
          </p:nvSpPr>
          <p:spPr>
            <a:xfrm>
              <a:off x="8833434" y="3022752"/>
              <a:ext cx="2025226" cy="103631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质量提升与原子分割的多源特征难以联合优化提升整体精度</a:t>
              </a:r>
              <a:endParaRPr lang="zh-CN" altLang="en-US" sz="16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4F76D73-A7F8-64E3-BC13-3AC960D73382}"/>
                </a:ext>
              </a:extLst>
            </p:cNvPr>
            <p:cNvSpPr/>
            <p:nvPr/>
          </p:nvSpPr>
          <p:spPr>
            <a:xfrm>
              <a:off x="8833434" y="4395892"/>
              <a:ext cx="2025226" cy="103631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ysClr val="windowText" lastClr="000000"/>
                  </a:solidFill>
                </a:rPr>
                <a:t>时序图像的关键信息批量提取的自动化程度低、集成性差</a:t>
              </a:r>
              <a:endParaRPr lang="zh-CN" altLang="en-US" sz="1600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176599D4-E46B-020F-E67D-41D414F561DB}"/>
                </a:ext>
              </a:extLst>
            </p:cNvPr>
            <p:cNvGrpSpPr/>
            <p:nvPr/>
          </p:nvGrpSpPr>
          <p:grpSpPr>
            <a:xfrm>
              <a:off x="4864539" y="1514393"/>
              <a:ext cx="3482696" cy="1235158"/>
              <a:chOff x="4864539" y="1514393"/>
              <a:chExt cx="3482696" cy="123515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CF9549DF-5555-85C8-4CF3-6ACE02F819E4}"/>
                  </a:ext>
                </a:extLst>
              </p:cNvPr>
              <p:cNvSpPr/>
              <p:nvPr/>
            </p:nvSpPr>
            <p:spPr>
              <a:xfrm>
                <a:off x="4864539" y="1514393"/>
                <a:ext cx="3482696" cy="1235158"/>
              </a:xfrm>
              <a:prstGeom prst="rect">
                <a:avLst/>
              </a:prstGeom>
              <a:solidFill>
                <a:srgbClr val="FDE7F7"/>
              </a:solidFill>
              <a:ln>
                <a:solidFill>
                  <a:srgbClr val="FDE7F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r>
                  <a:rPr lang="zh-CN" altLang="en-US" sz="1400" b="1" dirty="0">
                    <a:solidFill>
                      <a:sysClr val="windowText" lastClr="000000"/>
                    </a:solidFill>
                  </a:rPr>
                  <a:t>基于结构保持的非配对图像质量提升</a:t>
                </a:r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altLang="zh-CN" sz="1400" b="1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zh-CN" altLang="en-US" sz="14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D2D95E1A-7E21-25C9-90E9-DECB6DC64B62}"/>
                  </a:ext>
                </a:extLst>
              </p:cNvPr>
              <p:cNvSpPr/>
              <p:nvPr/>
            </p:nvSpPr>
            <p:spPr>
              <a:xfrm>
                <a:off x="4989426" y="1856981"/>
                <a:ext cx="3213016" cy="255206"/>
              </a:xfrm>
              <a:prstGeom prst="rect">
                <a:avLst/>
              </a:prstGeom>
              <a:solidFill>
                <a:srgbClr val="F7AFE2"/>
              </a:solidFill>
              <a:ln>
                <a:solidFill>
                  <a:srgbClr val="F7AFE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空域频域联合特征提取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83C87AC-AFF1-14DD-78EC-B7CB6B01FFA2}"/>
                  </a:ext>
                </a:extLst>
              </p:cNvPr>
              <p:cNvSpPr/>
              <p:nvPr/>
            </p:nvSpPr>
            <p:spPr>
              <a:xfrm>
                <a:off x="4989426" y="2465591"/>
                <a:ext cx="3213016" cy="223476"/>
              </a:xfrm>
              <a:prstGeom prst="rect">
                <a:avLst/>
              </a:prstGeom>
              <a:solidFill>
                <a:srgbClr val="F7AFE2"/>
              </a:solidFill>
              <a:ln>
                <a:solidFill>
                  <a:srgbClr val="F7AFE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特征函数与频域一致性的结构约束设计</a:t>
                </a: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604E9FC4-36AB-1F85-4106-25CAC4B7EEEB}"/>
                  </a:ext>
                </a:extLst>
              </p:cNvPr>
              <p:cNvSpPr/>
              <p:nvPr/>
            </p:nvSpPr>
            <p:spPr>
              <a:xfrm>
                <a:off x="4989426" y="2177151"/>
                <a:ext cx="3213016" cy="223476"/>
              </a:xfrm>
              <a:prstGeom prst="rect">
                <a:avLst/>
              </a:prstGeom>
              <a:solidFill>
                <a:srgbClr val="F7AFE2"/>
              </a:solidFill>
              <a:ln>
                <a:solidFill>
                  <a:srgbClr val="F7AFE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基于自注意力的全局结构一致性建模</a:t>
                </a:r>
              </a:p>
            </p:txBody>
          </p:sp>
        </p:grp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32F1C4A3-CF48-6BAF-364F-928194DA76C7}"/>
                </a:ext>
              </a:extLst>
            </p:cNvPr>
            <p:cNvSpPr/>
            <p:nvPr/>
          </p:nvSpPr>
          <p:spPr>
            <a:xfrm>
              <a:off x="4999379" y="3386638"/>
              <a:ext cx="3213016" cy="255206"/>
            </a:xfrm>
            <a:prstGeom prst="rect">
              <a:avLst/>
            </a:prstGeom>
            <a:solidFill>
              <a:srgbClr val="F7AFE2"/>
            </a:solidFill>
            <a:ln>
              <a:solidFill>
                <a:srgbClr val="F7AF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基于生成引导的语义一致性分割方法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B03F5C70-2C56-412E-6535-AC7206CAE63A}"/>
                </a:ext>
              </a:extLst>
            </p:cNvPr>
            <p:cNvSpPr/>
            <p:nvPr/>
          </p:nvSpPr>
          <p:spPr>
            <a:xfrm>
              <a:off x="4999379" y="3722854"/>
              <a:ext cx="3213016" cy="255206"/>
            </a:xfrm>
            <a:prstGeom prst="rect">
              <a:avLst/>
            </a:prstGeom>
            <a:solidFill>
              <a:srgbClr val="F7AFE2"/>
            </a:solidFill>
            <a:ln>
              <a:solidFill>
                <a:srgbClr val="F7AF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分割感知的掩膜加权循环一致性约束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7AD4322-FA78-12AD-B0FC-BAD2DB5FC3D9}"/>
                </a:ext>
              </a:extLst>
            </p:cNvPr>
            <p:cNvSpPr/>
            <p:nvPr/>
          </p:nvSpPr>
          <p:spPr>
            <a:xfrm>
              <a:off x="4999379" y="4759186"/>
              <a:ext cx="3213016" cy="255206"/>
            </a:xfrm>
            <a:prstGeom prst="rect">
              <a:avLst/>
            </a:prstGeom>
            <a:solidFill>
              <a:srgbClr val="F7AFE2"/>
            </a:solidFill>
            <a:ln>
              <a:solidFill>
                <a:srgbClr val="F7AF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自动化原子位置识别与处理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373899F6-5237-1565-70FE-EF20BAD1FE7B}"/>
                </a:ext>
              </a:extLst>
            </p:cNvPr>
            <p:cNvSpPr/>
            <p:nvPr/>
          </p:nvSpPr>
          <p:spPr>
            <a:xfrm>
              <a:off x="4999379" y="5096007"/>
              <a:ext cx="3213016" cy="255206"/>
            </a:xfrm>
            <a:prstGeom prst="rect">
              <a:avLst/>
            </a:prstGeom>
            <a:solidFill>
              <a:srgbClr val="F7AFE2"/>
            </a:solidFill>
            <a:ln>
              <a:solidFill>
                <a:srgbClr val="F7AF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细粒度信息动态提取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3310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DC223133-5C88-932B-1914-80257E17852D}"/>
              </a:ext>
            </a:extLst>
          </p:cNvPr>
          <p:cNvGrpSpPr/>
          <p:nvPr/>
        </p:nvGrpSpPr>
        <p:grpSpPr>
          <a:xfrm>
            <a:off x="3222171" y="191589"/>
            <a:ext cx="8647612" cy="4145280"/>
            <a:chOff x="3222171" y="191589"/>
            <a:chExt cx="8647612" cy="4145280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0D0059-0D6D-DD85-1629-E5CA29A874D3}"/>
                </a:ext>
              </a:extLst>
            </p:cNvPr>
            <p:cNvSpPr/>
            <p:nvPr/>
          </p:nvSpPr>
          <p:spPr>
            <a:xfrm>
              <a:off x="3222171" y="191589"/>
              <a:ext cx="8647612" cy="414528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8E7866-22E9-83AA-7322-B0775AA9CF22}"/>
                </a:ext>
              </a:extLst>
            </p:cNvPr>
            <p:cNvSpPr/>
            <p:nvPr/>
          </p:nvSpPr>
          <p:spPr>
            <a:xfrm>
              <a:off x="5799908" y="418013"/>
              <a:ext cx="3396343" cy="43542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第一章 引言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BE4F45E2-EFF4-B5A2-E80A-DA319B7C3256}"/>
                </a:ext>
              </a:extLst>
            </p:cNvPr>
            <p:cNvSpPr/>
            <p:nvPr/>
          </p:nvSpPr>
          <p:spPr>
            <a:xfrm>
              <a:off x="5799908" y="1110343"/>
              <a:ext cx="3396343" cy="4354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第二章 文献综述</a:t>
              </a:r>
              <a:endParaRPr lang="en-US" altLang="zh-CN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F3DA7F2-4373-C4A3-7A76-89BCBD153CB7}"/>
                </a:ext>
              </a:extLst>
            </p:cNvPr>
            <p:cNvSpPr/>
            <p:nvPr/>
          </p:nvSpPr>
          <p:spPr>
            <a:xfrm>
              <a:off x="3418114" y="1915884"/>
              <a:ext cx="3396343" cy="62701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第三章</a:t>
              </a:r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sz="1400" b="1" dirty="0">
                  <a:solidFill>
                    <a:sysClr val="windowText" lastClr="000000"/>
                  </a:solidFill>
                </a:rPr>
                <a:t>基于结构保持的非配对图像质量提升</a:t>
              </a:r>
            </a:p>
            <a:p>
              <a:pPr algn="ctr"/>
              <a:endParaRPr lang="en-US" altLang="zh-CN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835C0BC-A7A4-3E4F-322C-35E7902677F5}"/>
                </a:ext>
              </a:extLst>
            </p:cNvPr>
            <p:cNvSpPr/>
            <p:nvPr/>
          </p:nvSpPr>
          <p:spPr>
            <a:xfrm>
              <a:off x="8238308" y="1915884"/>
              <a:ext cx="3396343" cy="62701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第四章</a:t>
              </a:r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sz="1400" b="1" dirty="0">
                  <a:solidFill>
                    <a:sysClr val="windowText" lastClr="000000"/>
                  </a:solidFill>
                </a:rPr>
                <a:t>基于多源特征联合优化的原子定位</a:t>
              </a:r>
            </a:p>
            <a:p>
              <a:pPr algn="ctr"/>
              <a:endParaRPr lang="en-US" altLang="zh-CN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5FDA9898-FCC1-9D82-D45E-03F630C16C6D}"/>
                </a:ext>
              </a:extLst>
            </p:cNvPr>
            <p:cNvSpPr/>
            <p:nvPr/>
          </p:nvSpPr>
          <p:spPr>
            <a:xfrm>
              <a:off x="5799907" y="2913013"/>
              <a:ext cx="3396343" cy="57313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第五章</a:t>
              </a:r>
              <a:endParaRPr lang="en-US" altLang="zh-CN" b="1" dirty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zh-CN" altLang="en-US" sz="1400" b="1" dirty="0">
                  <a:solidFill>
                    <a:sysClr val="windowText" lastClr="000000"/>
                  </a:solidFill>
                </a:rPr>
                <a:t>原子级视频信息的动态提取分析系统</a:t>
              </a:r>
              <a:endParaRPr lang="en-US" altLang="zh-CN" sz="1400" b="1" dirty="0">
                <a:solidFill>
                  <a:sysClr val="windowText" lastClr="000000"/>
                </a:solidFill>
              </a:endParaRPr>
            </a:p>
            <a:p>
              <a:pPr algn="ctr"/>
              <a:endParaRPr lang="en-US" altLang="zh-CN" sz="140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F8EA33E-6EA1-9471-F1EF-2036592234A1}"/>
                </a:ext>
              </a:extLst>
            </p:cNvPr>
            <p:cNvSpPr/>
            <p:nvPr/>
          </p:nvSpPr>
          <p:spPr>
            <a:xfrm>
              <a:off x="5799907" y="3805633"/>
              <a:ext cx="3396343" cy="43543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ysClr val="windowText" lastClr="000000"/>
                  </a:solidFill>
                </a:rPr>
                <a:t>第六章 总结与展望</a:t>
              </a:r>
              <a:endParaRPr lang="en-US" altLang="zh-CN" b="1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8F8D5EF7-965E-E449-6CAD-06A9C9299158}"/>
                </a:ext>
              </a:extLst>
            </p:cNvPr>
            <p:cNvCxnSpPr>
              <a:stCxn id="4" idx="2"/>
              <a:endCxn id="5" idx="0"/>
            </p:cNvCxnSpPr>
            <p:nvPr/>
          </p:nvCxnSpPr>
          <p:spPr>
            <a:xfrm>
              <a:off x="7498080" y="853442"/>
              <a:ext cx="0" cy="2569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左大括号 11">
              <a:extLst>
                <a:ext uri="{FF2B5EF4-FFF2-40B4-BE49-F238E27FC236}">
                  <a16:creationId xmlns:a16="http://schemas.microsoft.com/office/drawing/2014/main" id="{B509AAF1-2D5A-6B4E-39AE-449A05582310}"/>
                </a:ext>
              </a:extLst>
            </p:cNvPr>
            <p:cNvSpPr/>
            <p:nvPr/>
          </p:nvSpPr>
          <p:spPr>
            <a:xfrm rot="5400000">
              <a:off x="7425146" y="-778326"/>
              <a:ext cx="283029" cy="5000902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左大括号 12">
              <a:extLst>
                <a:ext uri="{FF2B5EF4-FFF2-40B4-BE49-F238E27FC236}">
                  <a16:creationId xmlns:a16="http://schemas.microsoft.com/office/drawing/2014/main" id="{8982BAC2-E085-3E24-AE0C-16CF6BA8B3FA}"/>
                </a:ext>
              </a:extLst>
            </p:cNvPr>
            <p:cNvSpPr/>
            <p:nvPr/>
          </p:nvSpPr>
          <p:spPr>
            <a:xfrm rot="16200000">
              <a:off x="7425147" y="275416"/>
              <a:ext cx="283029" cy="5000902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9471DB7A-24CF-397F-CF5F-F236D0BDD5DE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7498079" y="3614738"/>
              <a:ext cx="0" cy="1908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529D6942-D24F-A69C-6603-F51C6D7C3A71}"/>
                </a:ext>
              </a:extLst>
            </p:cNvPr>
            <p:cNvSpPr/>
            <p:nvPr/>
          </p:nvSpPr>
          <p:spPr>
            <a:xfrm>
              <a:off x="3352800" y="1580610"/>
              <a:ext cx="8377646" cy="2013490"/>
            </a:xfrm>
            <a:prstGeom prst="round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0530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</TotalTime>
  <Words>184</Words>
  <Application>Microsoft Office PowerPoint</Application>
  <PresentationFormat>宽屏</PresentationFormat>
  <Paragraphs>38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 s</dc:creator>
  <cp:lastModifiedBy>鱼丸儿 章</cp:lastModifiedBy>
  <cp:revision>47</cp:revision>
  <dcterms:created xsi:type="dcterms:W3CDTF">2026-01-27T08:06:45Z</dcterms:created>
  <dcterms:modified xsi:type="dcterms:W3CDTF">2026-02-12T06:02:51Z</dcterms:modified>
</cp:coreProperties>
</file>